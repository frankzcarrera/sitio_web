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6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3B4A9B-EA22-41E7-86A2-8CAAC4D93D4C}" v="13" dt="2026-01-20T02:00:53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C72133-7F24-27C0-432E-D300CF3D2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75B3D6-9FC8-43AC-9F18-3EA39E374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138656-57E6-46E8-00BF-D551D042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9C47C4-23CF-6053-8E7D-B560EE8D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5D800B-F5BF-6C68-5ADF-AB34E1CFC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2621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E597A4-8A56-E410-AD56-B75868C3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7DF83-CCFC-5ECA-60BB-B7BA6A2852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FC2848-D10E-4B52-630E-453C63270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8D5DB1-E309-B234-8E96-95FC8519C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309495-03F6-30A9-161F-FC1C388E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4645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FC701-DCFC-38DB-FC62-025E77BF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BB0807-1A8B-9F99-FFC8-57AB1DD48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C33708-0B70-7324-27F4-BAD42EFEB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4EFAAE-EB0B-F309-52FD-244F1FD17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ABCD94-EEEA-E653-DB87-3725CB60B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64925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22CCE-ED83-839D-58FB-4A537B68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BD0A32-F591-1814-9BF9-DEB1783A86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F9B735-43C8-2B52-C502-1817D9F2F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FED719-A34B-BBB2-5D53-2289FA72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86D455-9EF2-13D6-8FCF-79A624E3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B24B0F-3F5B-EFF2-AA84-EE240812A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0864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54CB9-64DC-748A-F036-6B22ECBB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765D2A-8B4B-BD61-9F47-F7F88EB8A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0987CA-2D4D-3690-8F02-67D7B2EF8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ABF5014-94CE-CBFB-6C27-3940FAC41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8D1B9A-8968-F998-4C06-A5F1377ADA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4F8932F-2F49-4FB8-C64C-106BA76F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C43E2C3-51CB-6C9A-3A7D-6574BC13A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5A4631A-B194-FED1-53CF-D201966D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21007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DFFD0-A166-818C-406A-53577967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9D44F0-A272-E377-CF6A-5334E9973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FA603D8-5803-C797-B7DB-541E69581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6711D8-336C-9329-B7C1-42F73D9B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22457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54130C1-48CE-8D41-1348-913D00025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48B876-973A-4E3A-DB01-E34C9DF07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AF2DED-F532-0762-72C4-6097AFB7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1637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ACD37-11B5-DD7D-99A0-18C261D2C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58822C-21E3-59E6-2EC1-B06396506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BB272B-6B3F-BDF8-31E9-3F7014412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243356-0E78-194B-FEC0-8F9188984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EE0084-551D-F41F-AE33-650015EB1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A1C349-341A-3818-18A0-497EECAD8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9664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FB61DD-B795-8635-7B13-30078DB28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E7825A0-C176-E9B0-7CE0-B12ABCBEC9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FAD4D3-1276-56B7-3991-B912B1072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261B91-B4A5-32F2-01E4-CA337B79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3F46EF-1FD3-B50C-EB95-83F05650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BFF060-58A6-20EB-E1AE-D1F3A1D2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792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14CE8-E619-259F-60CE-F08CAB2D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C8EDD5-DA78-8013-C4C0-777AAD2FB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F8614C-12BE-6260-1FA2-E32E8E2FB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E84E56-E2CF-175A-212F-28D873A97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69079-881E-D4AD-0A13-179D3B3E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10634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324F5D-9F1B-5889-0BBA-6D0773293D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03DAC49-A111-CD44-5656-3288E9236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DBE355-D813-6051-3D17-37BDB587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1FE0DB-2242-5448-4C83-571D972B2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F3F482-73F7-F779-7B84-0BD515CB7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7588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EFDF1B3-B112-CB18-E7D3-5CCA351B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531424-81CF-B805-AC10-E37691F2F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A08484-3398-0ED2-FC83-572CCE09F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DB73B-5BEE-4E01-8DDB-06E64861013D}" type="datetimeFigureOut">
              <a:rPr lang="es-EC" smtClean="0"/>
              <a:t>20/1/2026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6BD9AC-1621-897A-7029-4A5C665CFA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A1DB3B-8051-6B1F-3B12-35D4DA441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BEFB9-2BE8-4014-BD93-348C7A9E35E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651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770FE3-DA81-CE56-01E9-0A367DECE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s-MX" sz="5200"/>
              <a:t>Servidor web Flask</a:t>
            </a:r>
            <a:endParaRPr lang="es-EC" sz="52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AEC208-AD1E-068B-671D-7BE1716F5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s-MX"/>
              <a:t>Ing. Frankz Carrera Calderón</a:t>
            </a:r>
          </a:p>
          <a:p>
            <a:pPr algn="l"/>
            <a:r>
              <a:rPr lang="es-MX"/>
              <a:t>2026</a:t>
            </a:r>
            <a:endParaRPr lang="es-EC"/>
          </a:p>
        </p:txBody>
      </p:sp>
      <p:pic>
        <p:nvPicPr>
          <p:cNvPr id="7" name="Graphic 6" descr="Matraz">
            <a:extLst>
              <a:ext uri="{FF2B5EF4-FFF2-40B4-BE49-F238E27FC236}">
                <a16:creationId xmlns:a16="http://schemas.microsoft.com/office/drawing/2014/main" id="{1BD2E2A6-0227-41E9-554A-941419AB4D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13" name="Graphic 8" descr="Matraz">
            <a:extLst>
              <a:ext uri="{FF2B5EF4-FFF2-40B4-BE49-F238E27FC236}">
                <a16:creationId xmlns:a16="http://schemas.microsoft.com/office/drawing/2014/main" id="{38F2BE8A-81FF-4D95-BC1C-9F62ABE16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85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D24CFE8-C752-1917-CA0C-0061DE15D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912" y="2840338"/>
            <a:ext cx="10552175" cy="3208495"/>
          </a:xfrm>
        </p:spPr>
        <p:txBody>
          <a:bodyPr>
            <a:noAutofit/>
          </a:bodyPr>
          <a:lstStyle/>
          <a:p>
            <a:pPr algn="just"/>
            <a:r>
              <a:rPr lang="es-ES" sz="2800" dirty="0" err="1"/>
              <a:t>Flask</a:t>
            </a:r>
            <a:r>
              <a:rPr lang="es-ES" sz="2800" dirty="0"/>
              <a:t> es un </a:t>
            </a:r>
            <a:r>
              <a:rPr lang="es-ES" sz="2800" b="1" dirty="0" err="1"/>
              <a:t>framework</a:t>
            </a:r>
            <a:r>
              <a:rPr lang="es-ES" sz="2800" b="1" dirty="0"/>
              <a:t> web ligero y flexible para Python</a:t>
            </a:r>
            <a:r>
              <a:rPr lang="es-ES" sz="2800" dirty="0"/>
              <a:t>. Es utilizado para desarrollar aplicaciones web rápidas y sencillas, pero también permite la creación de proyectos más complejos gracias a su arquitectura modular y extensible. </a:t>
            </a:r>
            <a:r>
              <a:rPr lang="es-ES" sz="2800" dirty="0" err="1"/>
              <a:t>Flask</a:t>
            </a:r>
            <a:r>
              <a:rPr lang="es-ES" sz="2800" dirty="0"/>
              <a:t> es conocido como un </a:t>
            </a:r>
            <a:r>
              <a:rPr lang="es-ES" sz="2800" b="1" dirty="0" err="1"/>
              <a:t>framework</a:t>
            </a:r>
            <a:r>
              <a:rPr lang="es-ES" sz="2800" b="1" dirty="0"/>
              <a:t> minimalista</a:t>
            </a:r>
            <a:r>
              <a:rPr lang="es-ES" sz="2800" dirty="0"/>
              <a:t>, ya que proporciona solo lo esencial para construir aplicaciones web, dejando al desarrollador la libertad de agregar las herramientas o extensiones necesarias según sus necesidades.</a:t>
            </a:r>
            <a:endParaRPr lang="es-EC" sz="2800" dirty="0"/>
          </a:p>
        </p:txBody>
      </p:sp>
      <p:pic>
        <p:nvPicPr>
          <p:cNvPr id="6" name="Imagen 5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04CD7BB-2379-2489-5B91-40427103E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12" y="464394"/>
            <a:ext cx="3082718" cy="191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100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7B902F-9584-F2D2-2319-FEF41CFF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Características del servidor web FLASK</a:t>
            </a:r>
            <a:endParaRPr lang="es-EC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B57EED-3500-E067-6CFA-93E91CC8B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056"/>
            <a:ext cx="10515600" cy="5291528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Ligero y minimalista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incluye herramientas o funcionalidades innecesarias. Solo proporciona lo básico, como manejo de rutas, solicitudes (</a:t>
            </a:r>
            <a:r>
              <a:rPr kumimoji="0" lang="es-EC" altLang="es-EC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requests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y respuestas.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Extensible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Aunque es minimalista, </a:t>
            </a:r>
            <a:r>
              <a:rPr kumimoji="0" lang="es-EC" altLang="es-EC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permite agregar extensiones para ampliar su funcionalidad (</a:t>
            </a:r>
            <a:r>
              <a:rPr kumimoji="0" lang="es-EC" altLang="es-EC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e.g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., gestión de bases de datos, autenticación, etc.).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Basado en </a:t>
            </a:r>
            <a:r>
              <a:rPr kumimoji="0" lang="es-EC" altLang="es-EC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Werkzeug</a:t>
            </a: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Jinja2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</a:t>
            </a: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utiliza: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C" altLang="es-EC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Werkzeug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Una librería para manejar solicitudes y respuestas HTTP.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Jinja2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 motor de plantillas que permite generar contenido HTML dinámico.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Fácil de aprender y usar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ideal para principiantes en desarrollo web, pero lo suficientemente potente para aplicaciones más avanzadas.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Código limpio y bien organizado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Promueve buenas prácticas como la separación de responsabilidades, lo que facilita el mantenimiento del código.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Soporte activo</a:t>
            </a: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Cuenta con una comunidad activa, abundante documentación y muchas extensiones de terceros.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07948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FCAEE-247D-3F65-AFF3-1FE273CE7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solidFill>
                  <a:schemeClr val="accent1"/>
                </a:solidFill>
              </a:rPr>
              <a:t>Cuando usar </a:t>
            </a:r>
            <a:r>
              <a:rPr lang="es-MX" dirty="0" err="1">
                <a:solidFill>
                  <a:schemeClr val="accent1"/>
                </a:solidFill>
              </a:rPr>
              <a:t>Flask</a:t>
            </a:r>
            <a:endParaRPr lang="es-EC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D1F585-4B37-C45D-B0D3-C9896B191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C" altLang="es-EC" b="1" dirty="0">
                <a:latin typeface="Arial" panose="020B0604020202020204" pitchFamily="34" charset="0"/>
              </a:rPr>
              <a:t>Proyectos pequeños o medianos</a:t>
            </a:r>
            <a:r>
              <a:rPr lang="es-EC" altLang="es-EC" dirty="0">
                <a:latin typeface="Arial" panose="020B0604020202020204" pitchFamily="34" charset="0"/>
              </a:rPr>
              <a:t>: Ideal para crear prototipos rápidos, aplicaciones API </a:t>
            </a:r>
            <a:r>
              <a:rPr lang="es-EC" altLang="es-EC" dirty="0" err="1">
                <a:latin typeface="Arial" panose="020B0604020202020204" pitchFamily="34" charset="0"/>
              </a:rPr>
              <a:t>RESTfull</a:t>
            </a:r>
            <a:r>
              <a:rPr lang="es-EC" altLang="es-EC" dirty="0">
                <a:latin typeface="Arial" panose="020B0604020202020204" pitchFamily="34" charset="0"/>
              </a:rPr>
              <a:t>, aplicaciones web pequeñas o servicios </a:t>
            </a:r>
            <a:r>
              <a:rPr lang="es-EC" altLang="es-EC" dirty="0" err="1">
                <a:latin typeface="Arial" panose="020B0604020202020204" pitchFamily="34" charset="0"/>
              </a:rPr>
              <a:t>backend</a:t>
            </a:r>
            <a:r>
              <a:rPr lang="es-EC" altLang="es-EC" dirty="0"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C" altLang="es-EC" b="1" dirty="0">
                <a:latin typeface="Arial" panose="020B0604020202020204" pitchFamily="34" charset="0"/>
              </a:rPr>
              <a:t>Control total del proyecto</a:t>
            </a:r>
            <a:r>
              <a:rPr lang="es-EC" altLang="es-EC" dirty="0">
                <a:latin typeface="Arial" panose="020B0604020202020204" pitchFamily="34" charset="0"/>
              </a:rPr>
              <a:t>: Si quieres más flexibilidad y control sobre cómo se manejan los componentes, </a:t>
            </a:r>
            <a:r>
              <a:rPr lang="es-EC" altLang="es-EC" dirty="0" err="1">
                <a:latin typeface="Arial" panose="020B0604020202020204" pitchFamily="34" charset="0"/>
              </a:rPr>
              <a:t>Flask</a:t>
            </a:r>
            <a:r>
              <a:rPr lang="es-EC" altLang="es-EC" dirty="0">
                <a:latin typeface="Arial" panose="020B0604020202020204" pitchFamily="34" charset="0"/>
              </a:rPr>
              <a:t> es perfecto.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C" altLang="es-EC" b="1" dirty="0">
                <a:latin typeface="Arial" panose="020B0604020202020204" pitchFamily="34" charset="0"/>
              </a:rPr>
              <a:t>Aprendizaje</a:t>
            </a:r>
            <a:r>
              <a:rPr lang="es-EC" altLang="es-EC" dirty="0">
                <a:latin typeface="Arial" panose="020B0604020202020204" pitchFamily="34" charset="0"/>
              </a:rPr>
              <a:t>: Es un excelente punto de partida para aprender sobre desarrollo web en Python. </a:t>
            </a:r>
          </a:p>
          <a:p>
            <a:pPr marL="0" indent="0">
              <a:buNone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754239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30FF0D1-F217-7E36-468A-0D314CC13424}"/>
              </a:ext>
            </a:extLst>
          </p:cNvPr>
          <p:cNvSpPr txBox="1"/>
          <p:nvPr/>
        </p:nvSpPr>
        <p:spPr>
          <a:xfrm>
            <a:off x="824459" y="149902"/>
            <a:ext cx="3621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800" b="1" dirty="0"/>
              <a:t>Instalación de FLASK</a:t>
            </a:r>
            <a:endParaRPr lang="es-EC" sz="28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353E497-C170-D420-946A-A60EBCEABEC5}"/>
              </a:ext>
            </a:extLst>
          </p:cNvPr>
          <p:cNvSpPr txBox="1"/>
          <p:nvPr/>
        </p:nvSpPr>
        <p:spPr>
          <a:xfrm>
            <a:off x="824459" y="970856"/>
            <a:ext cx="792605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ES" sz="2000" b="1" dirty="0"/>
              <a:t>Asegúrate de tener Python instalado</a:t>
            </a:r>
          </a:p>
          <a:p>
            <a:pPr lvl="1"/>
            <a:r>
              <a:rPr lang="es-ES" sz="2000" dirty="0"/>
              <a:t>Verifica si tienes Python instalado escribiendo en tu terminal o consola:</a:t>
            </a:r>
          </a:p>
          <a:p>
            <a:pPr lvl="1"/>
            <a:r>
              <a:rPr lang="es-ES" sz="2000" dirty="0" err="1"/>
              <a:t>python</a:t>
            </a:r>
            <a:r>
              <a:rPr lang="es-ES" sz="2000" dirty="0"/>
              <a:t> –versión</a:t>
            </a:r>
          </a:p>
          <a:p>
            <a:pPr marL="228600" lvl="1" indent="0">
              <a:buNone/>
            </a:pPr>
            <a:r>
              <a:rPr lang="es-ES" sz="2000" dirty="0"/>
              <a:t>Crea un entorno virtual (opcional, pero recomendado)</a:t>
            </a:r>
          </a:p>
          <a:p>
            <a:pPr marL="342900" indent="-342900">
              <a:buFont typeface="+mj-lt"/>
              <a:buAutoNum type="arabicPeriod"/>
            </a:pPr>
            <a:r>
              <a:rPr lang="es-ES" sz="2000" b="1" dirty="0"/>
              <a:t>Crea un entorno virtual (opcional, pero recomendado)</a:t>
            </a:r>
          </a:p>
          <a:p>
            <a:pPr lvl="1"/>
            <a:r>
              <a:rPr lang="es-ES" sz="2000" dirty="0"/>
              <a:t>Es buena práctica usar un entorno virtual para instalar </a:t>
            </a:r>
            <a:r>
              <a:rPr lang="es-ES" sz="2000" dirty="0" err="1"/>
              <a:t>Flask</a:t>
            </a:r>
            <a:r>
              <a:rPr lang="es-ES" sz="2000" dirty="0"/>
              <a:t> y evitar conflictos con otros paquetes.</a:t>
            </a:r>
          </a:p>
          <a:p>
            <a:pPr lvl="1"/>
            <a:r>
              <a:rPr lang="es-EC" sz="2000" dirty="0"/>
              <a:t>Crea un entorno virtual:</a:t>
            </a:r>
            <a:endParaRPr lang="es-ES" sz="2000" dirty="0"/>
          </a:p>
          <a:p>
            <a:pPr lvl="2"/>
            <a:r>
              <a:rPr lang="es-EC" sz="2000" dirty="0" err="1"/>
              <a:t>python</a:t>
            </a:r>
            <a:r>
              <a:rPr lang="es-EC" sz="2000" dirty="0"/>
              <a:t> -m </a:t>
            </a:r>
            <a:r>
              <a:rPr lang="es-EC" sz="2000" dirty="0" err="1"/>
              <a:t>venv</a:t>
            </a:r>
            <a:r>
              <a:rPr lang="es-EC" sz="2000" dirty="0"/>
              <a:t> </a:t>
            </a:r>
            <a:r>
              <a:rPr lang="es-EC" sz="2000" dirty="0" err="1"/>
              <a:t>venv</a:t>
            </a:r>
            <a:endParaRPr lang="es-EC" sz="2000" dirty="0"/>
          </a:p>
          <a:p>
            <a:pPr lvl="1"/>
            <a:r>
              <a:rPr lang="es-EC" sz="2000" dirty="0"/>
              <a:t>Activa el entorno virtual:</a:t>
            </a:r>
          </a:p>
          <a:p>
            <a:pPr lvl="2"/>
            <a:r>
              <a:rPr lang="es-EC" sz="2000" dirty="0" err="1"/>
              <a:t>venv</a:t>
            </a:r>
            <a:r>
              <a:rPr lang="es-EC" sz="2000" dirty="0"/>
              <a:t>\Scripts\actívate</a:t>
            </a:r>
            <a:r>
              <a:rPr lang="es-ES" sz="20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s-EC" sz="2000" b="1" dirty="0"/>
              <a:t>Instala </a:t>
            </a:r>
            <a:r>
              <a:rPr lang="es-EC" sz="2000" b="1" dirty="0" err="1"/>
              <a:t>Flask</a:t>
            </a:r>
            <a:endParaRPr lang="es-EC" sz="2000" b="1" dirty="0"/>
          </a:p>
          <a:p>
            <a:pPr lvl="2"/>
            <a:r>
              <a:rPr lang="es-EC" sz="2000" dirty="0" err="1"/>
              <a:t>pip</a:t>
            </a:r>
            <a:r>
              <a:rPr lang="es-EC" sz="2000" dirty="0"/>
              <a:t> </a:t>
            </a:r>
            <a:r>
              <a:rPr lang="es-EC" sz="2000" dirty="0" err="1"/>
              <a:t>install</a:t>
            </a:r>
            <a:r>
              <a:rPr lang="es-EC" sz="2000" dirty="0"/>
              <a:t> </a:t>
            </a:r>
            <a:r>
              <a:rPr lang="es-EC" sz="2000" dirty="0" err="1"/>
              <a:t>flask</a:t>
            </a:r>
            <a:endParaRPr lang="es-ES" sz="2000" dirty="0"/>
          </a:p>
          <a:p>
            <a:pPr marL="342900" indent="-342900">
              <a:buFont typeface="+mj-lt"/>
              <a:buAutoNum type="arabicPeriod"/>
            </a:pPr>
            <a:r>
              <a:rPr lang="es-EC" sz="2000" b="1" dirty="0"/>
              <a:t>Verifica la instalación</a:t>
            </a:r>
          </a:p>
          <a:p>
            <a:pPr lvl="1"/>
            <a:r>
              <a:rPr lang="es-ES" sz="2000" dirty="0"/>
              <a:t>Después de instalar </a:t>
            </a:r>
            <a:r>
              <a:rPr lang="es-ES" sz="2000" dirty="0" err="1"/>
              <a:t>Flask</a:t>
            </a:r>
            <a:r>
              <a:rPr lang="es-ES" sz="2000" dirty="0"/>
              <a:t>, verifica la versión instalada con el siguiente comando: </a:t>
            </a:r>
          </a:p>
          <a:p>
            <a:pPr lvl="1"/>
            <a:r>
              <a:rPr lang="es-EC" sz="2000" dirty="0" err="1"/>
              <a:t>python</a:t>
            </a:r>
            <a:r>
              <a:rPr lang="es-EC" sz="2000" dirty="0"/>
              <a:t> -m </a:t>
            </a:r>
            <a:r>
              <a:rPr lang="es-EC" sz="2000" dirty="0" err="1"/>
              <a:t>flask</a:t>
            </a:r>
            <a:r>
              <a:rPr lang="es-EC" sz="2000" dirty="0"/>
              <a:t> --</a:t>
            </a:r>
            <a:r>
              <a:rPr lang="es-EC" sz="2000" dirty="0" err="1"/>
              <a:t>version</a:t>
            </a:r>
            <a:endParaRPr lang="es-ES" sz="2000" dirty="0"/>
          </a:p>
        </p:txBody>
      </p:sp>
      <p:pic>
        <p:nvPicPr>
          <p:cNvPr id="2050" name="Picture 2" descr="Flask, el micro-framework multiuso - Junco TIC">
            <a:extLst>
              <a:ext uri="{FF2B5EF4-FFF2-40B4-BE49-F238E27FC236}">
                <a16:creationId xmlns:a16="http://schemas.microsoft.com/office/drawing/2014/main" id="{71352097-2AFD-C3B4-9E81-62B67D203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548" y="3787011"/>
            <a:ext cx="3419475" cy="133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348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F9B64C85-AC06-604B-C5B8-18512A80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091" y="1943315"/>
            <a:ext cx="6749990" cy="297137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BB8F790-CFF6-6E73-D40D-893BC13FD42C}"/>
              </a:ext>
            </a:extLst>
          </p:cNvPr>
          <p:cNvSpPr/>
          <p:nvPr/>
        </p:nvSpPr>
        <p:spPr>
          <a:xfrm>
            <a:off x="2009116" y="463978"/>
            <a:ext cx="71339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Estructura del proyecto</a:t>
            </a:r>
          </a:p>
        </p:txBody>
      </p:sp>
    </p:spTree>
    <p:extLst>
      <p:ext uri="{BB962C8B-B14F-4D97-AF65-F5344CB8AC3E}">
        <p14:creationId xmlns:p14="http://schemas.microsoft.com/office/powerpoint/2010/main" val="131233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D351C-19A3-6631-702B-99A4F52D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>
                <a:solidFill>
                  <a:schemeClr val="accent1"/>
                </a:solidFill>
              </a:rPr>
              <a:t>Programa app.py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08AF49-1653-5686-FEFC-437CC4511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01208"/>
          </a:xfrm>
        </p:spPr>
        <p:txBody>
          <a:bodyPr/>
          <a:lstStyle/>
          <a:p>
            <a:pPr>
              <a:lnSpc>
                <a:spcPts val="1425"/>
              </a:lnSpc>
            </a:pP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endParaRPr lang="es-EC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 =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__)</a:t>
            </a:r>
          </a:p>
          <a:p>
            <a:pPr>
              <a:lnSpc>
                <a:spcPts val="1425"/>
              </a:lnSpc>
            </a:pPr>
            <a:b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@app.route(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home():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"¡Hola, 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 funcionó...su primer programa"</a:t>
            </a:r>
            <a:endParaRPr lang="es-EC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==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__"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app.run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C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0A90F16-7BA0-9E50-E3E8-E5013C3696BC}"/>
              </a:ext>
            </a:extLst>
          </p:cNvPr>
          <p:cNvSpPr txBox="1"/>
          <p:nvPr/>
        </p:nvSpPr>
        <p:spPr>
          <a:xfrm>
            <a:off x="877824" y="5437125"/>
            <a:ext cx="6127954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C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Abre tu navegador y visita http://127.0.0.1:5000</a:t>
            </a:r>
          </a:p>
        </p:txBody>
      </p:sp>
    </p:spTree>
    <p:extLst>
      <p:ext uri="{BB962C8B-B14F-4D97-AF65-F5344CB8AC3E}">
        <p14:creationId xmlns:p14="http://schemas.microsoft.com/office/powerpoint/2010/main" val="1697109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CD5F3-BB2D-921A-5132-0A8DCF3C1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>
                <a:solidFill>
                  <a:schemeClr val="accent1"/>
                </a:solidFill>
              </a:rPr>
              <a:t>Endpoint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B712CB-3E65-0D32-961C-361EADD65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el contexto de </a:t>
            </a:r>
            <a:r>
              <a:rPr lang="es-ES" b="1" dirty="0"/>
              <a:t>web </a:t>
            </a:r>
            <a:r>
              <a:rPr lang="es-ES" b="1" dirty="0" err="1"/>
              <a:t>services</a:t>
            </a:r>
            <a:r>
              <a:rPr lang="es-ES" dirty="0"/>
              <a:t>, un </a:t>
            </a:r>
            <a:r>
              <a:rPr lang="es-ES" b="1" dirty="0" err="1"/>
              <a:t>endpoint</a:t>
            </a:r>
            <a:r>
              <a:rPr lang="es-ES" dirty="0"/>
              <a:t> es la dirección o URL específica a la que un cliente puede enviar solicitudes para interactuar con el servicio. Es el punto de entrada a un recurso o funcionalidad ofrecida por el web </a:t>
            </a:r>
            <a:r>
              <a:rPr lang="es-ES" dirty="0" err="1"/>
              <a:t>service</a:t>
            </a:r>
            <a:r>
              <a:rPr lang="es-ES" dirty="0"/>
              <a:t>.</a:t>
            </a:r>
          </a:p>
          <a:p>
            <a:r>
              <a:rPr lang="es-ES" dirty="0"/>
              <a:t>Un </a:t>
            </a:r>
            <a:r>
              <a:rPr lang="es-ES" b="1" dirty="0" err="1"/>
              <a:t>endpoint</a:t>
            </a:r>
            <a:r>
              <a:rPr lang="es-ES" dirty="0"/>
              <a:t> combina: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Protocolo de comunicación</a:t>
            </a:r>
            <a:r>
              <a:rPr lang="es-ES" dirty="0"/>
              <a:t>: Por ejemplo, HTTP o HTTPS.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Dominio o IP</a:t>
            </a:r>
            <a:r>
              <a:rPr lang="es-ES" dirty="0"/>
              <a:t>: El servidor donde se encuentra alojado el servicio.</a:t>
            </a:r>
          </a:p>
          <a:p>
            <a:pPr>
              <a:buFont typeface="+mj-lt"/>
              <a:buAutoNum type="arabicPeriod"/>
            </a:pPr>
            <a:r>
              <a:rPr lang="es-ES" b="1" dirty="0"/>
              <a:t>Ruta o recurso específico</a:t>
            </a:r>
            <a:r>
              <a:rPr lang="es-ES" dirty="0"/>
              <a:t>: La parte de la URL que identifica la operación o el recurso que se desea acceder.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359725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0E709-9C6E-2687-B30A-01143D42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err="1">
                <a:solidFill>
                  <a:schemeClr val="accent1"/>
                </a:solidFill>
              </a:rPr>
              <a:t>endpoints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2A34F0-09CA-E6D5-C36C-E9A5660E5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ts val="1425"/>
              </a:lnSpc>
            </a:pP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endParaRPr lang="es-EC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 =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__)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@app.route(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home():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"¡Hola, 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 funcionó...su primer programa"</a:t>
            </a:r>
            <a:endParaRPr lang="es-EC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@app.route(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"/nombre"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nombre():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"¡Hola, 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Frankz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!"</a:t>
            </a:r>
            <a:endParaRPr lang="es-EC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@app.route(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"/apellido"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apellido():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"¡Hola, 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Frankz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Carrera!"</a:t>
            </a:r>
            <a:endParaRPr lang="es-EC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==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"__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__"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app.run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C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65366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85A34-EE3C-52C4-477F-01B078CA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4090" cy="1325563"/>
          </a:xfrm>
        </p:spPr>
        <p:txBody>
          <a:bodyPr>
            <a:normAutofit/>
          </a:bodyPr>
          <a:lstStyle/>
          <a:p>
            <a:r>
              <a:rPr lang="es-MX" sz="4000" b="1" dirty="0"/>
              <a:t>Uso de </a:t>
            </a:r>
            <a:r>
              <a:rPr lang="es-MX" sz="4000" b="1" dirty="0" err="1"/>
              <a:t>get</a:t>
            </a:r>
            <a:r>
              <a:rPr lang="es-MX" sz="4000" b="1" dirty="0"/>
              <a:t> – Recuperar información del servidor</a:t>
            </a:r>
            <a:endParaRPr lang="es-EC" sz="40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880632-AB4C-C552-4218-F5B195FA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1425"/>
              </a:lnSpc>
            </a:pP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jsonify</a:t>
            </a:r>
            <a:endParaRPr lang="es-EC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 =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__)</a:t>
            </a:r>
          </a:p>
          <a:p>
            <a:pPr>
              <a:lnSpc>
                <a:spcPts val="1425"/>
              </a:lnSpc>
            </a:pPr>
            <a:b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C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Datos simulados</a:t>
            </a:r>
            <a:endParaRPr lang="es-EC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= [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"Producto 1"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"Producto 2"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20.0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b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@app.route(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'/products'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methods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'GET'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get_products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jsonify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(data), </a:t>
            </a:r>
            <a:r>
              <a:rPr lang="es-EC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s-EC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Devuelve los datos con un código de estado HTTP 200 (OK)</a:t>
            </a:r>
            <a:endParaRPr lang="es-EC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C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== 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'__</a:t>
            </a:r>
            <a:r>
              <a:rPr lang="es-EC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s-EC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__'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app.run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C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C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EC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23600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B14A51-CD94-C615-DDA4-5F125A024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774" y="461519"/>
            <a:ext cx="11847226" cy="5669457"/>
          </a:xfrm>
        </p:spPr>
        <p:txBody>
          <a:bodyPr>
            <a:normAutofit/>
          </a:bodyPr>
          <a:lstStyle/>
          <a:p>
            <a:pPr>
              <a:lnSpc>
                <a:spcPts val="1425"/>
              </a:lnSpc>
            </a:pP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jsonify</a:t>
            </a:r>
            <a:endParaRPr lang="es-EC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 =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Flask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(__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__)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Datos simulados</a:t>
            </a:r>
            <a:endParaRPr lang="es-EC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 = [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"Producto 1"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10.0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"Producto 2"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20.0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@app.route(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'/products'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methods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'GET'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get_products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jsonify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(data), </a:t>
            </a:r>
            <a:r>
              <a:rPr lang="es-EC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s-EC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# Devuelve los datos con un código de estado HTTP 200 (OK)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@app.route(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'/products/&lt;int:product_id&gt;'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methods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'GET'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get_product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product_id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((p </a:t>
            </a: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 </a:t>
            </a:r>
            <a:r>
              <a:rPr lang="es-EC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data </a:t>
            </a: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p[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==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product_id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jsonify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s-EC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endParaRPr lang="es-EC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jsonify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"Producto no encontrado"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}), </a:t>
            </a:r>
            <a:r>
              <a:rPr lang="es-EC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endParaRPr lang="es-EC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s-EC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__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__ == 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'__</a:t>
            </a:r>
            <a:r>
              <a:rPr lang="es-EC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s-EC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__'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app.run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C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debug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C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EC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s-EC" sz="1800" dirty="0"/>
          </a:p>
        </p:txBody>
      </p:sp>
    </p:spTree>
    <p:extLst>
      <p:ext uri="{BB962C8B-B14F-4D97-AF65-F5344CB8AC3E}">
        <p14:creationId xmlns:p14="http://schemas.microsoft.com/office/powerpoint/2010/main" val="29277014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FEA1DBF9206484D98AAEC54658686FB" ma:contentTypeVersion="18" ma:contentTypeDescription="Crear nuevo documento." ma:contentTypeScope="" ma:versionID="2b4275d09d901e25551e5abc3e1c402b">
  <xsd:schema xmlns:xsd="http://www.w3.org/2001/XMLSchema" xmlns:xs="http://www.w3.org/2001/XMLSchema" xmlns:p="http://schemas.microsoft.com/office/2006/metadata/properties" xmlns:ns3="f183ea51-c121-40a8-86ad-ca49513dbcb4" xmlns:ns4="1c2bc14d-d54a-4c17-8fb6-a5c909dbdc63" targetNamespace="http://schemas.microsoft.com/office/2006/metadata/properties" ma:root="true" ma:fieldsID="76cc05862b1d58c82bd4e8cd5c6f8735" ns3:_="" ns4:_="">
    <xsd:import namespace="f183ea51-c121-40a8-86ad-ca49513dbcb4"/>
    <xsd:import namespace="1c2bc14d-d54a-4c17-8fb6-a5c909dbdc6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83ea51-c121-40a8-86ad-ca49513dbc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2bc14d-d54a-4c17-8fb6-a5c909dbdc6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83ea51-c121-40a8-86ad-ca49513dbcb4" xsi:nil="true"/>
  </documentManagement>
</p:properties>
</file>

<file path=customXml/itemProps1.xml><?xml version="1.0" encoding="utf-8"?>
<ds:datastoreItem xmlns:ds="http://schemas.openxmlformats.org/officeDocument/2006/customXml" ds:itemID="{19C1B54E-58F5-4341-95AE-45E810E47B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CDB46-59FE-4CE0-8063-743D04D8DF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83ea51-c121-40a8-86ad-ca49513dbcb4"/>
    <ds:schemaRef ds:uri="1c2bc14d-d54a-4c17-8fb6-a5c909dbdc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A0A3B1-129F-419A-AFFC-F87A4A5C5F63}">
  <ds:schemaRefs>
    <ds:schemaRef ds:uri="http://www.w3.org/XML/1998/namespace"/>
    <ds:schemaRef ds:uri="http://schemas.microsoft.com/office/2006/metadata/properties"/>
    <ds:schemaRef ds:uri="http://purl.org/dc/elements/1.1/"/>
    <ds:schemaRef ds:uri="http://purl.org/dc/dcmitype/"/>
    <ds:schemaRef ds:uri="f183ea51-c121-40a8-86ad-ca49513dbcb4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c2bc14d-d54a-4c17-8fb6-a5c909dbdc6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960</Words>
  <Application>Microsoft Office PowerPoint</Application>
  <PresentationFormat>Panorámica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Tema de Office</vt:lpstr>
      <vt:lpstr>Servidor web Flask</vt:lpstr>
      <vt:lpstr>Presentación de PowerPoint</vt:lpstr>
      <vt:lpstr>Características del servidor web FLASK</vt:lpstr>
      <vt:lpstr>Cuando usar Flask</vt:lpstr>
      <vt:lpstr>Presentación de PowerPoint</vt:lpstr>
      <vt:lpstr>Presentación de PowerPoint</vt:lpstr>
      <vt:lpstr>Programa app.py</vt:lpstr>
      <vt:lpstr>Endpoint</vt:lpstr>
      <vt:lpstr>endpoints</vt:lpstr>
      <vt:lpstr>Uso de get – Recuperar información del servidor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FRANKZ ALBERTO CARRERA CALDERÓN</dc:creator>
  <cp:lastModifiedBy>FRANKZ ALBERTO CARRERA CALDERÓN</cp:lastModifiedBy>
  <cp:revision>2</cp:revision>
  <dcterms:created xsi:type="dcterms:W3CDTF">2026-01-20T01:39:17Z</dcterms:created>
  <dcterms:modified xsi:type="dcterms:W3CDTF">2026-01-20T15:52:32Z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0x0101000FEA1DBF9206484D98AAEC54658686FB</vt:lpwstr>
  </property>
</Properties>
</file>